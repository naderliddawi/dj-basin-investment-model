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030" autoAdjust="0"/>
    <p:restoredTop sz="95693" autoAdjust="0"/>
  </p:normalViewPr>
  <p:slideViewPr>
    <p:cSldViewPr snapToGrid="0" snapToObjects="1">
      <p:cViewPr>
        <p:scale>
          <a:sx n="250" d="100"/>
          <a:sy n="250" d="100"/>
        </p:scale>
        <p:origin x="2934" y="-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978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079" y="231839"/>
            <a:ext cx="6081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 Basin Co-Investment: Investment Recommendation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7079" y="499399"/>
            <a:ext cx="88411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195M Opportunity | Independent Review</a:t>
            </a:r>
            <a:endParaRPr lang="en-US" sz="700" dirty="0"/>
          </a:p>
        </p:txBody>
      </p:sp>
      <p:pic>
        <p:nvPicPr>
          <p:cNvPr id="4" name="Image 0" descr="/tmp/rasterized-gradient-f9d701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79" y="703990"/>
            <a:ext cx="8667750" cy="7450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5666" y="742950"/>
            <a:ext cx="8530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6712" y="950537"/>
            <a:ext cx="8410576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7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(Validated) | Base IRR: 16.9% (Deck: 17.6%) | Base ROI: 1.99x (Deck: 1.94x) | Payback: 4.1 years (Deck: &lt; 5)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0806" y="1252177"/>
            <a:ext cx="8530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(50K paths): Median IRR: 7.3% | P25/P75: 3.1% / 12.0% | Prob(IRR&lt;0%): 11.8% | Avg Loss (if loss): ~25.9MM | 99% Capital-at-Risk (</a:t>
            </a:r>
            <a:r>
              <a:rPr lang="en-US" sz="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 ~58.1MM 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38124" y="1554501"/>
            <a:ext cx="8652891" cy="1201605"/>
          </a:xfrm>
          <a:prstGeom prst="roundRect">
            <a:avLst>
              <a:gd name="adj" fmla="val 33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18134" y="1737650"/>
            <a:ext cx="8458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8134" y="1575908"/>
            <a:ext cx="862736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INVESTMENT MERITS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7079" y="1826714"/>
            <a:ext cx="8458200" cy="949867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>
              <a:lnSpc>
                <a:spcPts val="1050"/>
              </a:lnSpc>
              <a:spcAft>
                <a:spcPts val="450"/>
              </a:spcAft>
              <a:buSzPct val="100000"/>
            </a:pPr>
            <a:r>
              <a:rPr lang="en-US" sz="900" b="1" dirty="0">
                <a:latin typeface="Arial" pitchFamily="34" charset="0"/>
                <a:cs typeface="Arial" pitchFamily="34" charset="-120"/>
              </a:rPr>
              <a:t>PDP-backed downside</a:t>
            </a:r>
            <a:r>
              <a:rPr lang="en-US" sz="900" dirty="0">
                <a:latin typeface="Arial" pitchFamily="34" charset="0"/>
                <a:cs typeface="Arial" pitchFamily="34" charset="-120"/>
              </a:rPr>
              <a:t>: PDP PV-0 sits at ~1.3× purchase price, ensuring that the developed asset base alone is sufficient to return the invested capital; Monte Carlo shows only ~12% probability of capital loss, with worst-case 1-in-100 loss of ~$58MM on a $195MM co-invest.</a:t>
            </a:r>
          </a:p>
          <a:p>
            <a:pPr>
              <a:lnSpc>
                <a:spcPts val="1050"/>
              </a:lnSpc>
              <a:spcAft>
                <a:spcPts val="450"/>
              </a:spcAft>
              <a:buSzPct val="100000"/>
            </a:pPr>
            <a:r>
              <a:rPr lang="en-US" sz="900" b="1" dirty="0">
                <a:latin typeface="Arial" pitchFamily="34" charset="0"/>
                <a:cs typeface="Arial" pitchFamily="34" charset="-120"/>
              </a:rPr>
              <a:t>Attractive entry</a:t>
            </a:r>
            <a:r>
              <a:rPr lang="en-US" sz="900" dirty="0">
                <a:latin typeface="Arial" pitchFamily="34" charset="0"/>
                <a:cs typeface="Arial" pitchFamily="34" charset="-120"/>
              </a:rPr>
              <a:t>: Entry at ~4.6× EV/EBITDA vs. 8–11× comps, with model-confirmed payback in year 4 under strip; co-invest pays only 75bps G&amp;A (no carry), preserving upside relative to 2/20 Private Equity structures.</a:t>
            </a:r>
          </a:p>
          <a:p>
            <a:pPr>
              <a:lnSpc>
                <a:spcPts val="1050"/>
              </a:lnSpc>
              <a:spcAft>
                <a:spcPts val="450"/>
              </a:spcAft>
              <a:buSzPct val="100000"/>
            </a:pPr>
            <a:r>
              <a:rPr lang="en-US" sz="900" b="1" dirty="0">
                <a:latin typeface="Arial" pitchFamily="34" charset="0"/>
                <a:cs typeface="Arial" pitchFamily="34" charset="-120"/>
              </a:rPr>
              <a:t>Asset Quality</a:t>
            </a:r>
            <a:r>
              <a:rPr lang="en-US" sz="900" dirty="0">
                <a:latin typeface="Arial" pitchFamily="34" charset="0"/>
                <a:cs typeface="Arial" pitchFamily="34" charset="-120"/>
              </a:rPr>
              <a:t>: Mature DJ Basin position with proven AA/BB operators; returns remain in the low-teens under moderate decline-curve steepening.</a:t>
            </a:r>
          </a:p>
        </p:txBody>
      </p:sp>
      <p:sp>
        <p:nvSpPr>
          <p:cNvPr id="12" name="Text 9"/>
          <p:cNvSpPr/>
          <p:nvPr/>
        </p:nvSpPr>
        <p:spPr>
          <a:xfrm>
            <a:off x="228217" y="2805418"/>
            <a:ext cx="8652892" cy="1666196"/>
          </a:xfrm>
          <a:prstGeom prst="roundRect">
            <a:avLst>
              <a:gd name="adj" fmla="val 55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19088" y="3014206"/>
            <a:ext cx="84582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9088" y="2852285"/>
            <a:ext cx="862736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RISKS &amp; VERDICT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5657" y="3097481"/>
            <a:ext cx="8516116" cy="10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Risk Drivers: </a:t>
            </a: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IRR is most sensitive to </a:t>
            </a:r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prices and development timing</a:t>
            </a: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. (1) A 1-year delay compresses IRR to ~5.3% and extends payback from 4.1 to 8.3 years. (2) A 15% / 30% oil-price drop relative to Base Case reduces IRR to 11.6% / 6.4%. IRR crosses 0% at an implied ~$38/</a:t>
            </a:r>
            <a:r>
              <a:rPr lang="en-US" sz="9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bbl</a:t>
            </a: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 long-term oil price. (3) Decline-curve steepening from an industry-standard b = 0.9 to 0.45 still delivers 12.1% IRR, indicating that IRR is anchored in early-year PDP production and penalizes less for late-life depletion.</a:t>
            </a:r>
            <a:endParaRPr lang="en-US" sz="3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Monte Carlo: </a:t>
            </a: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50,000-path simulation across price, timing, and decline risks centers IRR at 7.3% (P25/P75/P90 = 3.1% / 12.0% / 17.5%), materially below the deck’s headline 18–22% underwriting range.</a:t>
            </a:r>
            <a:endParaRPr lang="en-US" sz="9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12228" y="4053137"/>
            <a:ext cx="8455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</a:t>
            </a: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PDP backing floors downside risk. However, the 16.9% Base / 7.3% Median spread signals high sensitivity: development delays or lower commodity prices risk trapping capital in “dead money” scenarios rather than causing principal loss.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30694" y="4511281"/>
            <a:ext cx="8667750" cy="538037"/>
          </a:xfrm>
          <a:prstGeom prst="roundRect">
            <a:avLst>
              <a:gd name="adj" fmla="val 106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5657" y="4555097"/>
            <a:ext cx="8666226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DILIGENCE &amp; ACCESS TO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15657" y="4727907"/>
            <a:ext cx="8452484" cy="23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spcAft>
                <a:spcPts val="750"/>
              </a:spcAft>
              <a:buNone/>
            </a:pP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Development Schedule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Engineering Decline Curves (decline shape, hyperbolic exponent)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Operator Hedging Policy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Colorado Setback Impact (permit approval rates, undeveloped conversion rates, maps)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Operator Concentration Risks (~74% NAV)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Actual Forward Strip Curve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Terminal Value Assumptions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5396</TotalTime>
  <Words>479</Words>
  <Application>Microsoft Office PowerPoint</Application>
  <PresentationFormat>On-screen Show (16:9)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 Basin Co-Investment Due Diligence</dc:title>
  <dc:subject>Investment Recommendation</dc:subject>
  <dc:creator>Fortitude Re Interview Candidate</dc:creator>
  <cp:lastModifiedBy>Nader</cp:lastModifiedBy>
  <cp:revision>91</cp:revision>
  <dcterms:created xsi:type="dcterms:W3CDTF">2025-11-23T22:29:56Z</dcterms:created>
  <dcterms:modified xsi:type="dcterms:W3CDTF">2025-12-09T19:17:27Z</dcterms:modified>
</cp:coreProperties>
</file>