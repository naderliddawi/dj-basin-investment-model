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4030" autoAdjust="0"/>
    <p:restoredTop sz="95693" autoAdjust="0"/>
  </p:normalViewPr>
  <p:slideViewPr>
    <p:cSldViewPr snapToGrid="0" snapToObjects="1">
      <p:cViewPr>
        <p:scale>
          <a:sx n="250" d="100"/>
          <a:sy n="250" d="100"/>
        </p:scale>
        <p:origin x="2934" y="-13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5978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7079" y="231839"/>
            <a:ext cx="60819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DJ Basin Co-Investment: Investment Recommendation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47079" y="499399"/>
            <a:ext cx="88411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</a:t>
            </a: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195M Opportunity | Independent Review</a:t>
            </a:r>
            <a:endParaRPr lang="en-US" sz="700" dirty="0"/>
          </a:p>
        </p:txBody>
      </p:sp>
      <p:pic>
        <p:nvPicPr>
          <p:cNvPr id="4" name="Image 0" descr="/tmp/rasterized-gradient-f9d7018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079" y="703990"/>
            <a:ext cx="8667750" cy="74503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75666" y="742950"/>
            <a:ext cx="85302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66712" y="950537"/>
            <a:ext cx="8410576" cy="21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67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 (Validated) | Base IRR: 17.0% (Deck: 17.6%) | Base ROI: 2.00x (Deck: 1.94x) | Payback: 4.1 years (Deck: &lt; 5)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60806" y="1252177"/>
            <a:ext cx="85302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Monte Carlo (50K paths): Median IRR: 15.2% | P25/P75: 11.2% / 19.4% | Prob(IRR&lt;0%): 0.5% (Avg Loss if Loss: -$15.0MM)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238124" y="1554501"/>
            <a:ext cx="8652891" cy="1201605"/>
          </a:xfrm>
          <a:prstGeom prst="roundRect">
            <a:avLst>
              <a:gd name="adj" fmla="val 334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318134" y="1737650"/>
            <a:ext cx="845820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18134" y="1575908"/>
            <a:ext cx="8627364" cy="12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INVESTMENT MERITS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247079" y="1826714"/>
            <a:ext cx="8458200" cy="949867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>
              <a:lnSpc>
                <a:spcPts val="1050"/>
              </a:lnSpc>
              <a:spcAft>
                <a:spcPts val="450"/>
              </a:spcAft>
              <a:buSzPct val="100000"/>
            </a:pPr>
            <a:r>
              <a:rPr lang="en-US" sz="900" b="1" dirty="0">
                <a:latin typeface="Arial" pitchFamily="34" charset="0"/>
                <a:cs typeface="Arial" pitchFamily="34" charset="-120"/>
              </a:rPr>
              <a:t>PDP-backed downside</a:t>
            </a:r>
            <a:r>
              <a:rPr lang="en-US" sz="900" dirty="0">
                <a:latin typeface="Arial" pitchFamily="34" charset="0"/>
                <a:cs typeface="Arial" pitchFamily="34" charset="-120"/>
              </a:rPr>
              <a:t>: PDP PV-0 sits at 1.34× purchase price, ensuring that the developed asset base alone is sufficient to return the invested capital. Moreover, because PDP (66% of NAV) produces immediately regardless of drilling schedules, IRR holds up during development delays of other types of reserves.</a:t>
            </a:r>
          </a:p>
          <a:p>
            <a:pPr>
              <a:lnSpc>
                <a:spcPts val="1050"/>
              </a:lnSpc>
              <a:spcAft>
                <a:spcPts val="450"/>
              </a:spcAft>
              <a:buSzPct val="100000"/>
            </a:pPr>
            <a:r>
              <a:rPr lang="en-US" sz="900" b="1" dirty="0">
                <a:latin typeface="Arial" pitchFamily="34" charset="0"/>
                <a:cs typeface="Arial" pitchFamily="34" charset="-120"/>
              </a:rPr>
              <a:t>Attractive entry</a:t>
            </a:r>
            <a:r>
              <a:rPr lang="en-US" sz="900" dirty="0">
                <a:latin typeface="Arial" pitchFamily="34" charset="0"/>
                <a:cs typeface="Arial" pitchFamily="34" charset="-120"/>
              </a:rPr>
              <a:t>: Entry at ~4.6× EV/EBITDA vs. 8–11× comps, with model-confirmed payback in year 4 under strip. Co-invest pays only 75bps G&amp;A (no carry), preserving upside relative to 2/20 Private Equity structures.</a:t>
            </a:r>
          </a:p>
          <a:p>
            <a:pPr>
              <a:lnSpc>
                <a:spcPts val="1050"/>
              </a:lnSpc>
              <a:spcAft>
                <a:spcPts val="450"/>
              </a:spcAft>
              <a:buSzPct val="100000"/>
            </a:pPr>
            <a:r>
              <a:rPr lang="en-US" sz="900" b="1" dirty="0">
                <a:latin typeface="Arial" pitchFamily="34" charset="0"/>
                <a:cs typeface="Arial" pitchFamily="34" charset="-120"/>
              </a:rPr>
              <a:t>Asset Quality</a:t>
            </a:r>
            <a:r>
              <a:rPr lang="en-US" sz="900" dirty="0">
                <a:latin typeface="Arial" pitchFamily="34" charset="0"/>
                <a:cs typeface="Arial" pitchFamily="34" charset="-120"/>
              </a:rPr>
              <a:t>: Mature DJ Basin position with proven AA/BB operators; returns remain in the low-teens under moderate decline-curve steepening.</a:t>
            </a:r>
          </a:p>
        </p:txBody>
      </p:sp>
      <p:sp>
        <p:nvSpPr>
          <p:cNvPr id="12" name="Text 9"/>
          <p:cNvSpPr/>
          <p:nvPr/>
        </p:nvSpPr>
        <p:spPr>
          <a:xfrm>
            <a:off x="228217" y="2805418"/>
            <a:ext cx="8652892" cy="1666196"/>
          </a:xfrm>
          <a:prstGeom prst="roundRect">
            <a:avLst>
              <a:gd name="adj" fmla="val 554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319088" y="3014206"/>
            <a:ext cx="8458200" cy="0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19088" y="2852285"/>
            <a:ext cx="8627364" cy="12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RISKS &amp; VERDICT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315657" y="3097481"/>
            <a:ext cx="8516116" cy="1009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9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Risk Drivers: </a:t>
            </a:r>
            <a:r>
              <a:rPr lang="en-US" sz="900" dirty="0">
                <a:latin typeface="Arial" pitchFamily="34" charset="0"/>
                <a:ea typeface="Arial" pitchFamily="34" charset="-122"/>
                <a:cs typeface="Arial" pitchFamily="34" charset="-120"/>
              </a:rPr>
              <a:t>IRR is most sensitive to </a:t>
            </a:r>
            <a:r>
              <a:rPr lang="en-US" sz="9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commodity prices</a:t>
            </a:r>
            <a:r>
              <a:rPr lang="en-US" sz="900" dirty="0">
                <a:latin typeface="Arial" pitchFamily="34" charset="0"/>
                <a:ea typeface="Arial" pitchFamily="34" charset="-122"/>
                <a:cs typeface="Arial" pitchFamily="34" charset="-120"/>
              </a:rPr>
              <a:t>. A 15% / 30% oil-price drop relative to 17.0% Base Case reduces IRR to 11.9% / 6.7%. IRR crosses 0% at an implied ~$38/</a:t>
            </a:r>
            <a:r>
              <a:rPr lang="en-US" sz="9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bbl</a:t>
            </a:r>
            <a:r>
              <a:rPr lang="en-US" sz="900" dirty="0">
                <a:latin typeface="Arial" pitchFamily="34" charset="0"/>
                <a:ea typeface="Arial" pitchFamily="34" charset="-122"/>
                <a:cs typeface="Arial" pitchFamily="34" charset="-120"/>
              </a:rPr>
              <a:t> long-term oil price. Decline-curve steepening from an industry-standard b = 0.9 to a severe 0.45 still delivers 12.2% IRR, indicating that IRR is anchored in early-year PDP production and penalizes less for late-life depletion. </a:t>
            </a:r>
          </a:p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endParaRPr lang="en-US" sz="900" b="1" dirty="0"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9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Monte Carlo: </a:t>
            </a:r>
            <a:r>
              <a:rPr lang="en-US" sz="900" dirty="0">
                <a:latin typeface="Arial" pitchFamily="34" charset="0"/>
                <a:ea typeface="Arial" pitchFamily="34" charset="-122"/>
                <a:cs typeface="Arial" pitchFamily="34" charset="-120"/>
              </a:rPr>
              <a:t>50,000-path simulation across commodity price and decline curve centers IRR at </a:t>
            </a:r>
            <a:r>
              <a:rPr lang="en-US" sz="9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15.2%</a:t>
            </a:r>
            <a:r>
              <a:rPr lang="en-US" sz="900" dirty="0">
                <a:latin typeface="Arial" pitchFamily="34" charset="0"/>
                <a:ea typeface="Arial" pitchFamily="34" charset="-122"/>
                <a:cs typeface="Arial" pitchFamily="34" charset="-120"/>
              </a:rPr>
              <a:t> (P25/P75/P90 = 11.2% / 19.4% / 23.1%).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12228" y="4053137"/>
            <a:ext cx="845591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9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Verdict:</a:t>
            </a:r>
            <a:r>
              <a:rPr lang="en-US" sz="9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PDP protection floors downside risk, providing an asymmetric risk profile. The primary risk is limited upside caused by a prolonged period of depressed commodity prices. This can be alleviated especially by hedging early-year PDP volumes in the front-loaded, convex yield curve.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230694" y="4511281"/>
            <a:ext cx="8667750" cy="538037"/>
          </a:xfrm>
          <a:prstGeom prst="roundRect">
            <a:avLst>
              <a:gd name="adj" fmla="val 1060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315657" y="4555097"/>
            <a:ext cx="8666226" cy="12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ADDITIONAL DILIGENCE &amp; ACCESS TO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315657" y="4727907"/>
            <a:ext cx="8452484" cy="23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5"/>
              </a:lnSpc>
              <a:spcAft>
                <a:spcPts val="750"/>
              </a:spcAft>
              <a:buNone/>
            </a:pPr>
            <a:r>
              <a:rPr lang="en-US" sz="8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 Development Schedule </a:t>
            </a:r>
            <a:r>
              <a:rPr lang="en-US" sz="8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r>
              <a:rPr lang="en-US" sz="8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Engineering Decline Curves (decline shape, hyperbolic exponent) </a:t>
            </a:r>
            <a:r>
              <a:rPr lang="en-US" sz="8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r>
              <a:rPr lang="en-US" sz="8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Operator Hedging Policy </a:t>
            </a:r>
            <a:r>
              <a:rPr lang="en-US" sz="8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r>
              <a:rPr lang="en-US" sz="8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Colorado Setback Impact (permit approval rates, undeveloped conversion rates, maps) </a:t>
            </a:r>
            <a:r>
              <a:rPr lang="en-US" sz="8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r>
              <a:rPr lang="en-US" sz="8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Operator Concentration Risks (~74% NAV) </a:t>
            </a:r>
            <a:r>
              <a:rPr lang="en-US" sz="8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r>
              <a:rPr lang="en-US" sz="8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Actual Forward Strip Curve </a:t>
            </a:r>
            <a:r>
              <a:rPr lang="en-US" sz="8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r>
              <a:rPr lang="en-US" sz="8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Terminal Value Assumptions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9953</TotalTime>
  <Words>439</Words>
  <Application>Microsoft Office PowerPoint</Application>
  <PresentationFormat>On-screen Show (16:9)</PresentationFormat>
  <Paragraphs>17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DJ Basin Co-Investment Due Diligence</dc:title>
  <dc:subject>Investment Recommendation</dc:subject>
  <dc:creator>Fortitude Re Interview Candidate</dc:creator>
  <cp:lastModifiedBy>Nader</cp:lastModifiedBy>
  <cp:revision>128</cp:revision>
  <dcterms:created xsi:type="dcterms:W3CDTF">2025-11-23T22:29:56Z</dcterms:created>
  <dcterms:modified xsi:type="dcterms:W3CDTF">2025-12-10T00:35:18Z</dcterms:modified>
</cp:coreProperties>
</file>